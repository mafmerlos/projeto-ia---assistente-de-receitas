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F5816222-F2A9-092E-99B3-F27AF771104A}">
          <p14:sldIdLst>
            <p14:sldId id="256"/>
          </p14:sldIdLst>
        </p14:section>
        <p14:section name="Produto" id="{637B54CA-7A77-405C-F4BB-9080FA38E350}">
          <p14:sldIdLst>
            <p14:sldId id="257"/>
            <p14:sldId id="258"/>
          </p14:sldIdLst>
        </p14:section>
        <p14:section name="Arquitetura" id="{3B5BEE1A-2716-08EB-A846-2972B9A4931B}">
          <p14:sldIdLst>
            <p14:sldId id="259"/>
            <p14:sldId id="260"/>
          </p14:sldIdLst>
        </p14:section>
        <p14:section name="Backend" id="{AC81ABD1-E172-22FD-A78D-2382646255AC}">
          <p14:sldIdLst>
            <p14:sldId id="261"/>
            <p14:sldId id="262"/>
            <p14:sldId id="263"/>
          </p14:sldIdLst>
        </p14:section>
        <p14:section name="Integração Gemini" id="{808B5AF0-C9F0-19CF-4065-A0E364C356C5}">
          <p14:sldIdLst>
            <p14:sldId id="264"/>
            <p14:sldId id="265"/>
          </p14:sldIdLst>
        </p14:section>
        <p14:section name="Funcionamento" id="{C7CD9EA9-6A2A-D18E-A95C-D4BDAD0F32AC}">
          <p14:sldIdLst>
            <p14:sldId id="266"/>
            <p14:sldId id="267"/>
            <p14:sldId id="268"/>
          </p14:sldIdLst>
        </p14:section>
        <p14:section name="Encerramento" id="{61AF6CD9-A762-8F33-EF9A-F382D0B0BDF8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04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o projeto: um assistente que cria receitas a partir dos </a:t>
            </a:r>
            <a:r>
              <a:rPr lang="en-US" dirty="0" err="1"/>
              <a:t>ingredientes</a:t>
            </a:r>
            <a:r>
              <a:rPr lang="en-US" dirty="0"/>
              <a:t> disponíveis, usando a API do Gemini através de um backend próprio em Python/Flask.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Conceito do produto: transformar </a:t>
            </a:r>
            <a:r>
              <a:rPr lang="en-US" dirty="0" err="1"/>
              <a:t>ingredientes</a:t>
            </a:r>
            <a:r>
              <a:rPr lang="en-US" dirty="0"/>
              <a:t> disponíveis em uma receita personalizada. O backend é o intermediário entre o app e a 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funcionalidades. As quatro primeiras são implementadas no backend (app.py); o status é uma rota do backend usada pelo frontend; as receitas salvas ficam no frontend.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Backend em Python com Flask por ser leve e direto. Flask-CORS permite que o frontend em outra porta acesse a API. A chave do Gemini fica no .env, lida pelo python-dotenv.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camadas. O frontend nunca fala com o Gemini diretamente: isso protege a chave de API, permite validar antes de gastar cota e mantém o prompt sob controle do servidor.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Percorrer o arquivo de cima para baixo. Destaque: a chave nunca fica no código; o cliente só é criado se houver chave; chamar_modelo é o único ponto que fala com a 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Só a rota POST aciona o Gemini. O contrato padronizado (campo sucesso) simplifica o frontend.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é determinístico fica em Python, antes de gastar cota; a RN06 tem ainda uma trava depois da IA (</a:t>
            </a:r>
            <a:r>
              <a:rPr lang="en-US" dirty="0" err="1"/>
              <a:t>separar_ingredientes_extras</a:t>
            </a:r>
            <a:r>
              <a:rPr lang="en-US" dirty="0"/>
              <a:t>), que move para opcionais qualquer item não informado. O que exige criatividade vira instrução no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SDK google-genai cria um cliente com a chave do .env. generate_content recebe o modelo, o prompt e a configuração pedindo JSON; a resposta vai direto para json.loads.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Qualquer exceção do modelo principal (cota, indisponibilidade, JSON inválido) aciona o reserva. Só se os dois falharem o usuário recebe erro: 429 se for cota esgotada, 503 se o Gemini estiver sobrecarregado, 500 nos demais casos.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Percorrer os 8 passos. Do 4 ao 7 tudo acontece dentro do backend.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verificar_erro_cota procura 429, quota e resource_exhausted; verificar_erro_sobrecarga procura 503, unavailable e high demand. A cota tem prioridade. A API não informa quanto de cota resta; o uso aparece no Google AI Studio.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 ilustrativo; cada chamada gera uma receita diferente. Em seguida, mostrar o vídeo 'Mostrando Sistema Funcionando.mp4' ou rodar ao vivo: python app.py e npm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retomando os requisitos da tarefa: API própria, regras de negócio, validação, integração com Gemini e interface React Native.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3B2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737360"/>
            <a:ext cx="69494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794760"/>
            <a:ext cx="69494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C7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C7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28883" y="2234459"/>
            <a:ext cx="7600717" cy="6643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Assistente de Receitas com IA</a:t>
            </a: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28884" y="3042328"/>
            <a:ext cx="76007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API em Python/Flask integrada ao Google Gemini, com interface em React Native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capa-circulo"/>
          <p:cNvSpPr/>
          <p:nvPr/>
        </p:nvSpPr>
        <p:spPr>
          <a:xfrm>
            <a:off x="10453395" y="249398"/>
            <a:ext cx="1463040" cy="14630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capa-icon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834" y="570837"/>
            <a:ext cx="820161" cy="82016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0" y="5029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3A2EFE9-3EF7-58E4-D42D-EDF137360F9E}"/>
              </a:ext>
            </a:extLst>
          </p:cNvPr>
          <p:cNvSpPr txBox="1"/>
          <p:nvPr/>
        </p:nvSpPr>
        <p:spPr>
          <a:xfrm>
            <a:off x="2141219" y="5870659"/>
            <a:ext cx="90436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accent2"/>
                </a:solidFill>
              </a:rPr>
              <a:t>Matheus Figueira Merlos · João Pedro Marucci Pagliuso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O conceito: o que cozinhar com o que já tenho?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47548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O problema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Receitas prontas pedem </a:t>
            </a:r>
            <a:r>
              <a:rPr lang="en-US" sz="1600" dirty="0" err="1">
                <a:solidFill>
                  <a:schemeClr val="tx1"/>
                </a:solidFill>
              </a:rPr>
              <a:t>ingredientes</a:t>
            </a:r>
            <a:r>
              <a:rPr lang="en-US" sz="1600" dirty="0">
                <a:solidFill>
                  <a:schemeClr val="tx1"/>
                </a:solidFill>
              </a:rPr>
              <a:t> que a pessoa não tem em casa, e muita comida é desperdiçada.</a:t>
            </a:r>
            <a:endParaRPr lang="en-US" sz="1600" dirty="0"/>
          </a:p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A solução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O usuário informa o que tem e o tipo de refeição. A IA Gemini cria uma receita sob medida, com passo a passo e dica do chef.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675120" y="1691639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Ingredientes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675120" y="2148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frango, arroz, tomate · almoço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6675120" y="30632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Backend + Gemini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6675120" y="3520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valida, monta o prompt e chama a IA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6675120" y="44348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Receita completa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6675120" y="4892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título, </a:t>
            </a:r>
            <a:r>
              <a:rPr lang="en-US" sz="1400" dirty="0" err="1">
                <a:solidFill>
                  <a:schemeClr val="accent4"/>
                </a:solidFill>
              </a:rPr>
              <a:t>ingredientes</a:t>
            </a:r>
            <a:r>
              <a:rPr lang="en-US" sz="1400" dirty="0">
                <a:solidFill>
                  <a:schemeClr val="accent4"/>
                </a:solidFill>
              </a:rPr>
              <a:t>, preparo, dica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C7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cxnSp>
        <p:nvCxnSpPr>
          <p:cNvPr id="26" name="Connector 25"/>
          <p:cNvCxnSpPr/>
          <p:nvPr/>
        </p:nvCxnSpPr>
        <p:spPr>
          <a:xfrm>
            <a:off x="6035040" y="1554480"/>
            <a:ext cx="5577840" cy="0"/>
          </a:xfrm>
          <a:prstGeom prst="line">
            <a:avLst/>
          </a:prstGeom>
          <a:ln w="9525">
            <a:solidFill>
              <a:srgbClr val="DCC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035040" y="1755648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 b="1">
                <a:solidFill>
                  <a:schemeClr val="accent1"/>
                </a:solidFill>
              </a:rPr>
              <a:t>01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35040" y="2926080"/>
            <a:ext cx="5577840" cy="0"/>
          </a:xfrm>
          <a:prstGeom prst="line">
            <a:avLst/>
          </a:prstGeom>
          <a:ln w="9525">
            <a:solidFill>
              <a:srgbClr val="DCC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035040" y="3127248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 b="1">
                <a:solidFill>
                  <a:schemeClr val="accent1"/>
                </a:solidFill>
              </a:rPr>
              <a:t>02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35040" y="4297680"/>
            <a:ext cx="5577840" cy="0"/>
          </a:xfrm>
          <a:prstGeom prst="line">
            <a:avLst/>
          </a:prstGeom>
          <a:ln w="9525">
            <a:solidFill>
              <a:srgbClr val="DCC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035040" y="4498848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 b="1">
                <a:solidFill>
                  <a:schemeClr val="accent1"/>
                </a:solidFill>
              </a:rPr>
              <a:t>03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035040" y="5669280"/>
            <a:ext cx="5577840" cy="0"/>
          </a:xfrm>
          <a:prstGeom prst="line">
            <a:avLst/>
          </a:prstGeom>
          <a:ln w="9525">
            <a:solidFill>
              <a:srgbClr val="DCC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Principais funcionalidades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429000" cy="0"/>
          </a:xfrm>
          <a:prstGeom prst="line">
            <a:avLst/>
          </a:prstGeom>
          <a:noFill/>
          <a:ln w="9525">
            <a:solidFill>
              <a:srgbClr val="DCCBB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Receita sob medida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060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</a:rPr>
              <a:t>Gerada pela IA a partir dos </a:t>
            </a:r>
            <a:r>
              <a:rPr lang="en-US" sz="1500" dirty="0" err="1">
                <a:solidFill>
                  <a:schemeClr val="accent4"/>
                </a:solidFill>
              </a:rPr>
              <a:t>ingredientes</a:t>
            </a:r>
            <a:r>
              <a:rPr lang="en-US" sz="1500" dirty="0">
                <a:solidFill>
                  <a:schemeClr val="accent4"/>
                </a:solidFill>
              </a:rPr>
              <a:t> informados.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43400" y="1600200"/>
            <a:ext cx="3429000" cy="0"/>
          </a:xfrm>
          <a:prstGeom prst="line">
            <a:avLst/>
          </a:prstGeom>
          <a:noFill/>
          <a:ln w="9525">
            <a:solidFill>
              <a:srgbClr val="DCCBB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4343400" y="1783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343400" y="210312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Tipo de refeição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343400" y="26060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</a:rPr>
              <a:t>Almoço/jantar, café da manhã, lanche ou sobremesa.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38160" y="1600200"/>
            <a:ext cx="3429000" cy="0"/>
          </a:xfrm>
          <a:prstGeom prst="line">
            <a:avLst/>
          </a:prstGeom>
          <a:noFill/>
          <a:ln w="9525">
            <a:solidFill>
              <a:srgbClr val="DCCBB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8138160" y="1783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138160" y="210312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Resposta estruturada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26060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</a:rPr>
              <a:t>Sempre 9 campos: título, porções, dificuldade, preparo, dica…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3429000" cy="0"/>
          </a:xfrm>
          <a:prstGeom prst="line">
            <a:avLst/>
          </a:prstGeom>
          <a:noFill/>
          <a:ln w="9525">
            <a:solidFill>
              <a:srgbClr val="DCCBB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548640" y="4160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48056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Modelo reserva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9834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</a:rPr>
              <a:t>Se o Gemini principal falhar, um segundo modelo assume.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343400" y="3977640"/>
            <a:ext cx="3429000" cy="0"/>
          </a:xfrm>
          <a:prstGeom prst="line">
            <a:avLst/>
          </a:prstGeom>
          <a:noFill/>
          <a:ln w="9525">
            <a:solidFill>
              <a:srgbClr val="DCCBB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 txBox="1"/>
          <p:nvPr/>
        </p:nvSpPr>
        <p:spPr>
          <a:xfrm>
            <a:off x="4343400" y="4160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343400" y="448056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Status do servidor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4343400" y="49834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</a:rPr>
              <a:t>O app mostra se a API está online e com chave configurada.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138160" y="3977640"/>
            <a:ext cx="3429000" cy="0"/>
          </a:xfrm>
          <a:prstGeom prst="line">
            <a:avLst/>
          </a:prstGeom>
          <a:noFill/>
          <a:ln w="9525">
            <a:solidFill>
              <a:srgbClr val="DCCBB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 txBox="1"/>
          <p:nvPr/>
        </p:nvSpPr>
        <p:spPr>
          <a:xfrm>
            <a:off x="8138160" y="4160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138160" y="448056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Receitas salvas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8138160" y="49834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</a:rPr>
              <a:t>O frontend guarda as favoritas no navegador (localStorage).</a:t>
            </a:r>
            <a:endParaRPr lang="en-US" sz="15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C7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Tecnologias utilizadas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83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Backend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71576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Python + Flask 3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servidor HTTP e rotas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557016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Flask-CORS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libera o frontend (porta 5173)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398264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python-dotenv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lê a chave do arquivo .env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23951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google-genai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SDK oficial do Gemini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297680" y="1783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Frontend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4297680" y="271576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React 18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componentes da interface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4297680" y="3557016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React Native Web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componentes RN no navegador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4297680" y="4398264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Vite 5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servidor de desenvolvimento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4297680" y="523951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fetch (api.js)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chamadas HTTP à API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8046720" y="1783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Inteligência Artificial</a:t>
            </a:r>
            <a:endParaRPr lang="en-US" sz="2000" dirty="0"/>
          </a:p>
        </p:txBody>
      </p:sp>
      <p:sp>
        <p:nvSpPr>
          <p:cNvPr id="23" name="Text 18"/>
          <p:cNvSpPr txBox="1"/>
          <p:nvPr/>
        </p:nvSpPr>
        <p:spPr>
          <a:xfrm>
            <a:off x="8046720" y="271576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gemini-3.8-flash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modelo principal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8046720" y="3557016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gemini-3.1-flash-lite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modelo reserva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8046720" y="4398264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Saída em JSON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response_mime_type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8046720" y="523951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Google AI Studio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geração da chave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C7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548640" y="150876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 b="1">
                <a:solidFill>
                  <a:schemeClr val="accent1"/>
                </a:solidFill>
              </a:rPr>
              <a:t>01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2606040"/>
            <a:ext cx="3474719" cy="0"/>
          </a:xfrm>
          <a:prstGeom prst="line">
            <a:avLst/>
          </a:prstGeom>
          <a:ln w="9525">
            <a:solidFill>
              <a:srgbClr val="DCC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48640" y="3447288"/>
            <a:ext cx="3474719" cy="0"/>
          </a:xfrm>
          <a:prstGeom prst="line">
            <a:avLst/>
          </a:prstGeom>
          <a:ln w="9525">
            <a:solidFill>
              <a:srgbClr val="DCC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48640" y="4288536"/>
            <a:ext cx="3474719" cy="0"/>
          </a:xfrm>
          <a:prstGeom prst="line">
            <a:avLst/>
          </a:prstGeom>
          <a:ln w="9525">
            <a:solidFill>
              <a:srgbClr val="DCC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48640" y="5129784"/>
            <a:ext cx="3474719" cy="0"/>
          </a:xfrm>
          <a:prstGeom prst="line">
            <a:avLst/>
          </a:prstGeom>
          <a:ln w="9525">
            <a:solidFill>
              <a:srgbClr val="DCC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48640" y="5971032"/>
            <a:ext cx="3474719" cy="0"/>
          </a:xfrm>
          <a:prstGeom prst="line">
            <a:avLst/>
          </a:prstGeom>
          <a:ln w="9525">
            <a:solidFill>
              <a:srgbClr val="DCC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297680" y="150876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 b="1">
                <a:solidFill>
                  <a:schemeClr val="accent1"/>
                </a:solidFill>
              </a:rPr>
              <a:t>02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297680" y="2606040"/>
            <a:ext cx="3474720" cy="0"/>
          </a:xfrm>
          <a:prstGeom prst="line">
            <a:avLst/>
          </a:prstGeom>
          <a:ln w="9525">
            <a:solidFill>
              <a:srgbClr val="DCC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297680" y="3447288"/>
            <a:ext cx="3474720" cy="0"/>
          </a:xfrm>
          <a:prstGeom prst="line">
            <a:avLst/>
          </a:prstGeom>
          <a:ln w="9525">
            <a:solidFill>
              <a:srgbClr val="DCC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297680" y="4288536"/>
            <a:ext cx="3474720" cy="0"/>
          </a:xfrm>
          <a:prstGeom prst="line">
            <a:avLst/>
          </a:prstGeom>
          <a:ln w="9525">
            <a:solidFill>
              <a:srgbClr val="DCC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297680" y="5129784"/>
            <a:ext cx="3474720" cy="0"/>
          </a:xfrm>
          <a:prstGeom prst="line">
            <a:avLst/>
          </a:prstGeom>
          <a:ln w="9525">
            <a:solidFill>
              <a:srgbClr val="DCC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297680" y="5971032"/>
            <a:ext cx="3474720" cy="0"/>
          </a:xfrm>
          <a:prstGeom prst="line">
            <a:avLst/>
          </a:prstGeom>
          <a:ln w="9525">
            <a:solidFill>
              <a:srgbClr val="DCC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046720" y="150876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 b="1">
                <a:solidFill>
                  <a:schemeClr val="accent1"/>
                </a:solidFill>
              </a:rPr>
              <a:t>03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046720" y="2606040"/>
            <a:ext cx="3474720" cy="0"/>
          </a:xfrm>
          <a:prstGeom prst="line">
            <a:avLst/>
          </a:prstGeom>
          <a:ln w="9525">
            <a:solidFill>
              <a:srgbClr val="DCC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046720" y="3447288"/>
            <a:ext cx="3474720" cy="0"/>
          </a:xfrm>
          <a:prstGeom prst="line">
            <a:avLst/>
          </a:prstGeom>
          <a:ln w="9525">
            <a:solidFill>
              <a:srgbClr val="DCC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046720" y="4288536"/>
            <a:ext cx="3474720" cy="0"/>
          </a:xfrm>
          <a:prstGeom prst="line">
            <a:avLst/>
          </a:prstGeom>
          <a:ln w="9525">
            <a:solidFill>
              <a:srgbClr val="DCC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046720" y="5129784"/>
            <a:ext cx="3474720" cy="0"/>
          </a:xfrm>
          <a:prstGeom prst="line">
            <a:avLst/>
          </a:prstGeom>
          <a:ln w="9525">
            <a:solidFill>
              <a:srgbClr val="DCC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046720" y="5971032"/>
            <a:ext cx="3474720" cy="0"/>
          </a:xfrm>
          <a:prstGeom prst="line">
            <a:avLst/>
          </a:prstGeom>
          <a:ln w="9525">
            <a:solidFill>
              <a:srgbClr val="DCC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Arquitetura: o backend é o único caminho até o Gemini</a:t>
            </a:r>
            <a:endParaRPr lang="en-US" sz="3400" dirty="0"/>
          </a:p>
        </p:txBody>
      </p:sp>
      <p:sp>
        <p:nvSpPr>
          <p:cNvPr id="3" name="arq-frontend"/>
          <p:cNvSpPr/>
          <p:nvPr/>
        </p:nvSpPr>
        <p:spPr>
          <a:xfrm>
            <a:off x="548640" y="1828800"/>
            <a:ext cx="246888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777240" y="205740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Frontend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React Native Web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localhost:5173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services/api.js</a:t>
            </a:r>
            <a:endParaRPr lang="en-US" sz="1400" dirty="0"/>
          </a:p>
        </p:txBody>
      </p:sp>
      <p:sp>
        <p:nvSpPr>
          <p:cNvPr id="5" name="arq-backend"/>
          <p:cNvSpPr/>
          <p:nvPr/>
        </p:nvSpPr>
        <p:spPr>
          <a:xfrm>
            <a:off x="4023360" y="1371600"/>
            <a:ext cx="4114800" cy="45720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4251960" y="1463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Backend · app.py (Flask) · :3001</a:t>
            </a:r>
            <a:endParaRPr lang="en-US" sz="1600" dirty="0"/>
          </a:p>
        </p:txBody>
      </p:sp>
      <p:sp>
        <p:nvSpPr>
          <p:cNvPr id="7" name="arq-int-0"/>
          <p:cNvSpPr/>
          <p:nvPr/>
        </p:nvSpPr>
        <p:spPr>
          <a:xfrm>
            <a:off x="4297680" y="1965960"/>
            <a:ext cx="356616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4480560" y="20574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Rotas + CORS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GET /, /api/status, POST /gerar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80760" y="2715768"/>
            <a:ext cx="0" cy="22860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0" name="arq-int-1"/>
          <p:cNvSpPr/>
          <p:nvPr/>
        </p:nvSpPr>
        <p:spPr>
          <a:xfrm>
            <a:off x="4297680" y="2944368"/>
            <a:ext cx="356616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4480560" y="303580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Validação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Ingredientes obrigatórios, padrões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80760" y="3694176"/>
            <a:ext cx="0" cy="22860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3" name="arq-int-2"/>
          <p:cNvSpPr/>
          <p:nvPr/>
        </p:nvSpPr>
        <p:spPr>
          <a:xfrm>
            <a:off x="4297680" y="3922776"/>
            <a:ext cx="356616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4480560" y="4014216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Prompt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Persona + regras + molde JSON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80760" y="4672584"/>
            <a:ext cx="0" cy="22860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6" name="arq-int-3"/>
          <p:cNvSpPr/>
          <p:nvPr/>
        </p:nvSpPr>
        <p:spPr>
          <a:xfrm>
            <a:off x="4297680" y="4901184"/>
            <a:ext cx="356616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4480560" y="4992624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chamar_modelo()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Principal → reserva, lê o JSON</a:t>
            </a:r>
            <a:endParaRPr lang="en-US" sz="1400" dirty="0"/>
          </a:p>
        </p:txBody>
      </p:sp>
      <p:sp>
        <p:nvSpPr>
          <p:cNvPr id="18" name="arq-gemini"/>
          <p:cNvSpPr/>
          <p:nvPr/>
        </p:nvSpPr>
        <p:spPr>
          <a:xfrm>
            <a:off x="8961120" y="4023360"/>
            <a:ext cx="265176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 txBox="1"/>
          <p:nvPr/>
        </p:nvSpPr>
        <p:spPr>
          <a:xfrm>
            <a:off x="9189720" y="420624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Google Gemini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gemini-3.8-flash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gemini-3.1-flash-lite</a:t>
            </a:r>
            <a:endParaRPr lang="en-US" sz="1400" dirty="0"/>
          </a:p>
          <a:p>
            <a:pPr marL="0" indent="0">
              <a:buNone/>
            </a:pPr>
            <a:r>
              <a:rPr lang="en-US" sz="1400" dirty="0" err="1">
                <a:solidFill>
                  <a:schemeClr val="accent4"/>
                </a:solidFill>
              </a:rPr>
              <a:t>Resposta</a:t>
            </a:r>
            <a:r>
              <a:rPr lang="en-US" sz="1400" dirty="0">
                <a:solidFill>
                  <a:schemeClr val="accent4"/>
                </a:solidFill>
              </a:rPr>
              <a:t> em JSON</a:t>
            </a:r>
            <a:endParaRPr lang="en-US" sz="1400" dirty="0"/>
          </a:p>
        </p:txBody>
      </p:sp>
      <p:sp>
        <p:nvSpPr>
          <p:cNvPr id="20" name="arq-env"/>
          <p:cNvSpPr/>
          <p:nvPr/>
        </p:nvSpPr>
        <p:spPr>
          <a:xfrm>
            <a:off x="548640" y="5029200"/>
            <a:ext cx="246888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 txBox="1"/>
          <p:nvPr/>
        </p:nvSpPr>
        <p:spPr>
          <a:xfrm>
            <a:off x="777240" y="51663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.env (só no servidor)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GEMINI_API_KEY, PORT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017520" y="2194560"/>
            <a:ext cx="128016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 flipH="1">
            <a:off x="3017520" y="2560320"/>
            <a:ext cx="128016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 txBox="1"/>
          <p:nvPr/>
        </p:nvSpPr>
        <p:spPr>
          <a:xfrm>
            <a:off x="3017520" y="1828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4"/>
                </a:solidFill>
              </a:rPr>
              <a:t>pedido JSON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017520" y="2651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4"/>
                </a:solidFill>
              </a:rPr>
              <a:t>receita JSON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017520" y="5486400"/>
            <a:ext cx="100584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7863840" y="4846320"/>
            <a:ext cx="109728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 flipH="1">
            <a:off x="7863840" y="5212080"/>
            <a:ext cx="109728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 txBox="1"/>
          <p:nvPr/>
        </p:nvSpPr>
        <p:spPr>
          <a:xfrm>
            <a:off x="8138160" y="45262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4"/>
                </a:solidFill>
              </a:rPr>
              <a:t>prompt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138160" y="5303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4"/>
                </a:solidFill>
              </a:rPr>
              <a:t>JSON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961120" y="1463040"/>
            <a:ext cx="2651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accent4"/>
                </a:solidFill>
              </a:rPr>
              <a:t>API REST stateless: sem banco de dados nem sessão; cada requisição é independente.</a:t>
            </a:r>
            <a:endParaRPr lang="en-US" sz="15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C7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O app.py em seis blocos (245 linhas)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0"/>
          </a:xfrm>
          <a:prstGeom prst="line">
            <a:avLst/>
          </a:prstGeom>
          <a:noFill/>
          <a:ln w="9525">
            <a:solidFill>
              <a:srgbClr val="DCCBB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548640" y="16642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6642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Importações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168249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 err="1">
                <a:solidFill>
                  <a:schemeClr val="tx1"/>
                </a:solidFill>
              </a:rPr>
              <a:t>os</a:t>
            </a:r>
            <a:r>
              <a:rPr lang="en-US" sz="1500" dirty="0">
                <a:solidFill>
                  <a:schemeClr val="tx1"/>
                </a:solidFill>
              </a:rPr>
              <a:t>, re, json, unicodedata, Flask, CORS, dotenv e o SDK genai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11064240" cy="0"/>
          </a:xfrm>
          <a:prstGeom prst="line">
            <a:avLst/>
          </a:prstGeom>
          <a:noFill/>
          <a:ln w="9525">
            <a:solidFill>
              <a:srgbClr val="DCCBB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548640" y="24414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4414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Configuração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245973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/>
              <a:t>C</a:t>
            </a:r>
            <a:r>
              <a:rPr lang="en-US" sz="1500" dirty="0">
                <a:solidFill>
                  <a:schemeClr val="tx1"/>
                </a:solidFill>
              </a:rPr>
              <a:t>arrega o .env, cria o app com CORS, porta 3001, cliente Gemini e os dois modelos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11064240" cy="0"/>
          </a:xfrm>
          <a:prstGeom prst="line">
            <a:avLst/>
          </a:prstGeom>
          <a:noFill/>
          <a:ln w="9525">
            <a:solidFill>
              <a:srgbClr val="DCCBB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548640" y="32186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2186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Validações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323697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 err="1">
                <a:solidFill>
                  <a:schemeClr val="tx1"/>
                </a:solidFill>
              </a:rPr>
              <a:t>validar_formato_ingredientes</a:t>
            </a:r>
            <a:r>
              <a:rPr lang="en-US" sz="1500" dirty="0">
                <a:solidFill>
                  <a:schemeClr val="tx1"/>
                </a:solidFill>
              </a:rPr>
              <a:t>, verificar_erro_cota (429) e verificar_erro_sobrecarga (503)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794760"/>
            <a:ext cx="11064240" cy="0"/>
          </a:xfrm>
          <a:prstGeom prst="line">
            <a:avLst/>
          </a:prstGeom>
          <a:noFill/>
          <a:ln w="9525">
            <a:solidFill>
              <a:srgbClr val="DCCBB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548640" y="399592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9959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Chamada à IA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3931920" y="401421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 err="1">
                <a:solidFill>
                  <a:schemeClr val="tx1"/>
                </a:solidFill>
              </a:rPr>
              <a:t>chamar_modelo</a:t>
            </a:r>
            <a:r>
              <a:rPr lang="en-US" sz="1500" dirty="0">
                <a:solidFill>
                  <a:schemeClr val="tx1"/>
                </a:solidFill>
              </a:rPr>
              <a:t> pede JSON ao Gemini; </a:t>
            </a:r>
            <a:r>
              <a:rPr lang="en-US" sz="1500" dirty="0" err="1">
                <a:solidFill>
                  <a:schemeClr val="tx1"/>
                </a:solidFill>
              </a:rPr>
              <a:t>separar_ingredientes_extras</a:t>
            </a:r>
            <a:r>
              <a:rPr lang="en-US" sz="1500" dirty="0">
                <a:solidFill>
                  <a:schemeClr val="tx1"/>
                </a:solidFill>
              </a:rPr>
              <a:t> move extras para os opcionais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4572000"/>
            <a:ext cx="11064240" cy="0"/>
          </a:xfrm>
          <a:prstGeom prst="line">
            <a:avLst/>
          </a:prstGeom>
          <a:noFill/>
          <a:ln w="9525">
            <a:solidFill>
              <a:srgbClr val="DCCBB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 txBox="1"/>
          <p:nvPr/>
        </p:nvSpPr>
        <p:spPr>
          <a:xfrm>
            <a:off x="548640" y="47731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47731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Rotas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3931920" y="479145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GET /, GET /api/status e POST /api/receitas/gerar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5349240"/>
            <a:ext cx="11064240" cy="0"/>
          </a:xfrm>
          <a:prstGeom prst="line">
            <a:avLst/>
          </a:prstGeom>
          <a:noFill/>
          <a:ln w="9525">
            <a:solidFill>
              <a:srgbClr val="DCCBB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 txBox="1"/>
          <p:nvPr/>
        </p:nvSpPr>
        <p:spPr>
          <a:xfrm>
            <a:off x="548640" y="55504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06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234440" y="55504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Inicialização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3931920" y="556869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app.run(host="0.0.0.0", port=3001, debug=False)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48640" y="6126480"/>
            <a:ext cx="11064240" cy="0"/>
          </a:xfrm>
          <a:prstGeom prst="line">
            <a:avLst/>
          </a:prstGeom>
          <a:noFill/>
          <a:ln w="9525">
            <a:solidFill>
              <a:srgbClr val="DCCBB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C7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Endpoints da API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18288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Chama IA?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faz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 o serviço e lista os modelos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/api/status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Online? Chave configurada? (sem revelar a chave)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/api/receitas/gerar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Gera a receita a partir dos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ingredientes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entrada"/>
          <p:cNvSpPr/>
          <p:nvPr/>
        </p:nvSpPr>
        <p:spPr>
          <a:xfrm>
            <a:off x="548640" y="3657600"/>
            <a:ext cx="539496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 txBox="1"/>
          <p:nvPr/>
        </p:nvSpPr>
        <p:spPr>
          <a:xfrm>
            <a:off x="777240" y="384048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Entrada (POST /gerar)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/>
              <a:t>I</a:t>
            </a:r>
            <a:r>
              <a:rPr lang="en-US" sz="1400" dirty="0">
                <a:solidFill>
                  <a:schemeClr val="tx1"/>
                </a:solidFill>
              </a:rPr>
              <a:t>ngredientes: lista ou texto (obrigatório)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 err="1"/>
              <a:t>T</a:t>
            </a:r>
            <a:r>
              <a:rPr lang="en-US" sz="1400" dirty="0" err="1">
                <a:solidFill>
                  <a:schemeClr val="tx1"/>
                </a:solidFill>
              </a:rPr>
              <a:t>ipoRefeicao</a:t>
            </a:r>
            <a:r>
              <a:rPr lang="en-US" sz="1400" dirty="0">
                <a:solidFill>
                  <a:schemeClr val="tx1"/>
                </a:solidFill>
              </a:rPr>
              <a:t>: padrão "Almoco ou Jantar"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Só alimentos: até 20 itens de 40 caracteres</a:t>
            </a:r>
            <a:endParaRPr lang="en-US" sz="1400" dirty="0"/>
          </a:p>
        </p:txBody>
      </p:sp>
      <p:sp>
        <p:nvSpPr>
          <p:cNvPr id="6" name="saida"/>
          <p:cNvSpPr/>
          <p:nvPr/>
        </p:nvSpPr>
        <p:spPr>
          <a:xfrm>
            <a:off x="6217920" y="3657600"/>
            <a:ext cx="539496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 txBox="1"/>
          <p:nvPr/>
        </p:nvSpPr>
        <p:spPr>
          <a:xfrm>
            <a:off x="6446520" y="384048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Contrato de resposta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Sucesso: { sucesso: true, dados: {…9 campos} }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Erro: { sucesso: false, mensagem: "…" }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 frontend só precisa checar o campo sucesso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C7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Regras de negócio e validações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No código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 err="1">
                <a:solidFill>
                  <a:schemeClr val="accent4"/>
                </a:solidFill>
              </a:rPr>
              <a:t>Verificado</a:t>
            </a:r>
            <a:r>
              <a:rPr lang="en-US" sz="1300" dirty="0">
                <a:solidFill>
                  <a:schemeClr val="accent4"/>
                </a:solidFill>
              </a:rPr>
              <a:t> em Python, antes de chamar a IA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03520" cy="0"/>
          </a:xfrm>
          <a:prstGeom prst="line">
            <a:avLst/>
          </a:prstGeom>
          <a:noFill/>
          <a:ln w="9525">
            <a:solidFill>
              <a:srgbClr val="DCCBB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548640" y="241401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RN01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40487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Ao menos um ingrediente, senão 400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816352"/>
            <a:ext cx="5303520" cy="0"/>
          </a:xfrm>
          <a:prstGeom prst="line">
            <a:avLst/>
          </a:prstGeom>
          <a:noFill/>
          <a:ln w="9525">
            <a:solidFill>
              <a:srgbClr val="DCCBB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548640" y="2944368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RN02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93522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JSON malformado não derruba a API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346704"/>
            <a:ext cx="5303520" cy="0"/>
          </a:xfrm>
          <a:prstGeom prst="line">
            <a:avLst/>
          </a:prstGeom>
          <a:noFill/>
          <a:ln w="9525">
            <a:solidFill>
              <a:srgbClr val="DCCBB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548640" y="347472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RN03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46557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Sem GEMINI_API_KEY não há geração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877056"/>
            <a:ext cx="5303520" cy="0"/>
          </a:xfrm>
          <a:prstGeom prst="line">
            <a:avLst/>
          </a:prstGeom>
          <a:noFill/>
          <a:ln w="9525">
            <a:solidFill>
              <a:srgbClr val="DCCBB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548640" y="400507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RN04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99592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Refeição padrão: "Almoco ou Jantar"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407408"/>
            <a:ext cx="5303520" cy="0"/>
          </a:xfrm>
          <a:prstGeom prst="line">
            <a:avLst/>
          </a:prstGeom>
          <a:noFill/>
          <a:ln w="9525">
            <a:solidFill>
              <a:srgbClr val="DCCBB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 txBox="1"/>
          <p:nvPr/>
        </p:nvSpPr>
        <p:spPr>
          <a:xfrm>
            <a:off x="548640" y="453542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RN05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5262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Lista ou texto viram a mesma lista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937760"/>
            <a:ext cx="5303520" cy="0"/>
          </a:xfrm>
          <a:prstGeom prst="line">
            <a:avLst/>
          </a:prstGeom>
          <a:noFill/>
          <a:ln w="9525">
            <a:solidFill>
              <a:srgbClr val="DCCBB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 txBox="1"/>
          <p:nvPr/>
        </p:nvSpPr>
        <p:spPr>
          <a:xfrm>
            <a:off x="548640" y="506577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RN09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05663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Até 20 itens, 40 caracteres, sem símbolos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14630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No prompt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6309360" y="18745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 err="1">
                <a:solidFill>
                  <a:schemeClr val="accent4"/>
                </a:solidFill>
              </a:rPr>
              <a:t>Instruções</a:t>
            </a:r>
            <a:r>
              <a:rPr lang="en-US" sz="1300" dirty="0">
                <a:solidFill>
                  <a:schemeClr val="accent4"/>
                </a:solidFill>
              </a:rPr>
              <a:t> que a IA precisa seguir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09360" y="2286000"/>
            <a:ext cx="5303520" cy="0"/>
          </a:xfrm>
          <a:prstGeom prst="line">
            <a:avLst/>
          </a:prstGeom>
          <a:noFill/>
          <a:ln w="9525">
            <a:solidFill>
              <a:srgbClr val="DCCBB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 txBox="1"/>
          <p:nvPr/>
        </p:nvSpPr>
        <p:spPr>
          <a:xfrm>
            <a:off x="6309360" y="241401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RN06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240487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Lista principal só com o que foi informado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309360" y="2816352"/>
            <a:ext cx="5303520" cy="0"/>
          </a:xfrm>
          <a:prstGeom prst="line">
            <a:avLst/>
          </a:prstGeom>
          <a:noFill/>
          <a:ln w="9525">
            <a:solidFill>
              <a:srgbClr val="DCCBB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 txBox="1"/>
          <p:nvPr/>
        </p:nvSpPr>
        <p:spPr>
          <a:xfrm>
            <a:off x="6309360" y="2944368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RN07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040880" y="293522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Açúcar, canela, sal... só como opcionais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309360" y="3346704"/>
            <a:ext cx="5303520" cy="0"/>
          </a:xfrm>
          <a:prstGeom prst="line">
            <a:avLst/>
          </a:prstGeom>
          <a:noFill/>
          <a:ln w="9525">
            <a:solidFill>
              <a:srgbClr val="DCCBB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 txBox="1"/>
          <p:nvPr/>
        </p:nvSpPr>
        <p:spPr>
          <a:xfrm>
            <a:off x="6309360" y="347472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RN08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040880" y="346557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Responder só JSON com 9 campos fixos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309360" y="3877056"/>
            <a:ext cx="5303520" cy="0"/>
          </a:xfrm>
          <a:prstGeom prst="line">
            <a:avLst/>
          </a:prstGeom>
          <a:noFill/>
          <a:ln w="9525">
            <a:solidFill>
              <a:srgbClr val="DCCBB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 txBox="1"/>
          <p:nvPr/>
        </p:nvSpPr>
        <p:spPr>
          <a:xfrm>
            <a:off x="6309360" y="400507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RN10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7040880" y="399592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Só alimentos reais; senão a API responde 422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309360" y="4407408"/>
            <a:ext cx="5303520" cy="0"/>
          </a:xfrm>
          <a:prstGeom prst="line">
            <a:avLst/>
          </a:prstGeom>
          <a:noFill/>
          <a:ln w="9525">
            <a:solidFill>
              <a:srgbClr val="DCCBB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 txBox="1"/>
          <p:nvPr/>
        </p:nvSpPr>
        <p:spPr>
          <a:xfrm>
            <a:off x="6309360" y="453542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RN11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7040880" y="45262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Não força o tipo se os </a:t>
            </a:r>
            <a:r>
              <a:rPr lang="en-US" sz="1500" dirty="0" err="1">
                <a:solidFill>
                  <a:schemeClr val="tx1"/>
                </a:solidFill>
              </a:rPr>
              <a:t>ingredientes</a:t>
            </a:r>
            <a:r>
              <a:rPr lang="en-US" sz="1500" dirty="0">
                <a:solidFill>
                  <a:schemeClr val="tx1"/>
                </a:solidFill>
              </a:rPr>
              <a:t> não combinam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309360" y="4937760"/>
            <a:ext cx="5303520" cy="0"/>
          </a:xfrm>
          <a:prstGeom prst="line">
            <a:avLst/>
          </a:prstGeom>
          <a:noFill/>
          <a:ln w="9525">
            <a:solidFill>
              <a:srgbClr val="DCCBB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 txBox="1"/>
          <p:nvPr/>
        </p:nvSpPr>
        <p:spPr>
          <a:xfrm>
            <a:off x="6309360" y="506577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—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7040880" y="505663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Tempo de preparo estimado pela própria IA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6309360" y="5468112"/>
            <a:ext cx="5303520" cy="0"/>
          </a:xfrm>
          <a:prstGeom prst="line">
            <a:avLst/>
          </a:prstGeom>
          <a:noFill/>
          <a:ln w="9525">
            <a:solidFill>
              <a:srgbClr val="DCCBB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 txBox="1"/>
          <p:nvPr/>
        </p:nvSpPr>
        <p:spPr>
          <a:xfrm>
            <a:off x="6309360" y="5596128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—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7040880" y="558698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Persona: chef experiente, passo a passo objetivo</a:t>
            </a:r>
            <a:endParaRPr lang="en-US" sz="150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C7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896291" y="301752"/>
            <a:ext cx="839941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Como funciona a integração com o Gemini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288502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Prompt montado em 5 partes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120640" cy="0"/>
          </a:xfrm>
          <a:prstGeom prst="line">
            <a:avLst/>
          </a:prstGeom>
          <a:noFill/>
          <a:ln w="9525">
            <a:solidFill>
              <a:srgbClr val="DCCBB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548640" y="20574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01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02996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Persona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Chef experiente e criativo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5120640" cy="0"/>
          </a:xfrm>
          <a:prstGeom prst="line">
            <a:avLst/>
          </a:prstGeom>
          <a:noFill/>
          <a:ln w="9525">
            <a:solidFill>
              <a:srgbClr val="DCCBB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548640" y="2926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02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89864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Verificação prévia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Todos os itens são alimentos? senão, lista os inválidos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5120640" cy="0"/>
          </a:xfrm>
          <a:prstGeom prst="line">
            <a:avLst/>
          </a:prstGeom>
          <a:noFill/>
          <a:ln w="9525">
            <a:solidFill>
              <a:srgbClr val="DCCBB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548640" y="37947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03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376732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Dados do usuário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Ingredientes e tipo de refeição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526280"/>
            <a:ext cx="5120640" cy="0"/>
          </a:xfrm>
          <a:prstGeom prst="line">
            <a:avLst/>
          </a:prstGeom>
          <a:noFill/>
          <a:ln w="9525">
            <a:solidFill>
              <a:srgbClr val="DCCBB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548640" y="4663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04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463600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Diretrizes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As regras RN06, RN07 e RN11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394960"/>
            <a:ext cx="5120640" cy="0"/>
          </a:xfrm>
          <a:prstGeom prst="line">
            <a:avLst/>
          </a:prstGeom>
          <a:noFill/>
          <a:ln w="9525">
            <a:solidFill>
              <a:srgbClr val="DCCBB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548640" y="55321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05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550468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Formato de saída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Molde JSON com 9 campos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14173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chemeClr val="accent3"/>
                </a:solidFill>
              </a:rPr>
              <a:t>G</a:t>
            </a:r>
            <a:r>
              <a:rPr lang="en-US" sz="1800" b="1" dirty="0">
                <a:solidFill>
                  <a:schemeClr val="accent3"/>
                </a:solidFill>
              </a:rPr>
              <a:t>arantias de um JSON utilizável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309360" y="1920240"/>
            <a:ext cx="5303520" cy="0"/>
          </a:xfrm>
          <a:prstGeom prst="line">
            <a:avLst/>
          </a:prstGeom>
          <a:noFill/>
          <a:ln w="9525">
            <a:solidFill>
              <a:srgbClr val="DCCBB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 txBox="1"/>
          <p:nvPr/>
        </p:nvSpPr>
        <p:spPr>
          <a:xfrm>
            <a:off x="6309360" y="2084832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response_mime_type="application/json"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o Gemini é obrigado a responder em JSON puro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309360" y="2788920"/>
            <a:ext cx="5303520" cy="0"/>
          </a:xfrm>
          <a:prstGeom prst="line">
            <a:avLst/>
          </a:prstGeom>
          <a:noFill/>
          <a:ln w="9525">
            <a:solidFill>
              <a:srgbClr val="DCCBB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 txBox="1"/>
          <p:nvPr/>
        </p:nvSpPr>
        <p:spPr>
          <a:xfrm>
            <a:off x="6309360" y="2944368"/>
            <a:ext cx="5303520" cy="548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json.loads dentro de try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se o JSON vier inválido, o modelo reserva assume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09360" y="3657600"/>
            <a:ext cx="5303520" cy="0"/>
          </a:xfrm>
          <a:prstGeom prst="line">
            <a:avLst/>
          </a:prstGeom>
          <a:noFill/>
          <a:ln w="9525">
            <a:solidFill>
              <a:srgbClr val="DCCBB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 txBox="1"/>
          <p:nvPr/>
        </p:nvSpPr>
        <p:spPr>
          <a:xfrm>
            <a:off x="6309360" y="379476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Como o Gemini já responde em JSON puro, o código não precisa mais limpar marcações de Markdown da resposta: o texto vai direto para o json.loads.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C7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46760" y="2971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Fallback: dois modelos tentam antes de qualquer erro</a:t>
            </a:r>
            <a:endParaRPr lang="en-US" sz="3400" dirty="0"/>
          </a:p>
        </p:txBody>
      </p:sp>
      <p:sp>
        <p:nvSpPr>
          <p:cNvPr id="3" name="fb-principal"/>
          <p:cNvSpPr/>
          <p:nvPr/>
        </p:nvSpPr>
        <p:spPr>
          <a:xfrm>
            <a:off x="548640" y="1874520"/>
            <a:ext cx="246888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640080" y="1874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gemini-3.8-flash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017520" y="2286000"/>
            <a:ext cx="54864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6" name="fb-d1"/>
          <p:cNvSpPr/>
          <p:nvPr/>
        </p:nvSpPr>
        <p:spPr>
          <a:xfrm>
            <a:off x="3566160" y="1783080"/>
            <a:ext cx="1828800" cy="1005840"/>
          </a:xfrm>
          <a:prstGeom prst="diamond">
            <a:avLst/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3749040" y="178308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JSON válido?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94960" y="2286000"/>
            <a:ext cx="384048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6949440" y="1920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4"/>
                </a:solidFill>
              </a:rPr>
              <a:t>sim</a:t>
            </a:r>
            <a:endParaRPr lang="en-US" sz="1200" dirty="0"/>
          </a:p>
        </p:txBody>
      </p:sp>
      <p:sp>
        <p:nvSpPr>
          <p:cNvPr id="10" name="fb-200"/>
          <p:cNvSpPr/>
          <p:nvPr/>
        </p:nvSpPr>
        <p:spPr>
          <a:xfrm>
            <a:off x="9235440" y="1874520"/>
            <a:ext cx="2377440" cy="82296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9326880" y="18745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200 · receita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480560" y="2788920"/>
            <a:ext cx="0" cy="73152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4526280" y="2971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4"/>
                </a:solidFill>
              </a:rPr>
              <a:t>não</a:t>
            </a:r>
            <a:endParaRPr lang="en-US" sz="1200" dirty="0"/>
          </a:p>
        </p:txBody>
      </p:sp>
      <p:sp>
        <p:nvSpPr>
          <p:cNvPr id="14" name="fb-reserva"/>
          <p:cNvSpPr/>
          <p:nvPr/>
        </p:nvSpPr>
        <p:spPr>
          <a:xfrm>
            <a:off x="3246120" y="3520440"/>
            <a:ext cx="246888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3337560" y="35204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gemini-3.1-flash-lite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715000" y="3931920"/>
            <a:ext cx="50292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7" name="fb-d2"/>
          <p:cNvSpPr/>
          <p:nvPr/>
        </p:nvSpPr>
        <p:spPr>
          <a:xfrm>
            <a:off x="6217920" y="3429000"/>
            <a:ext cx="1828800" cy="1005840"/>
          </a:xfrm>
          <a:prstGeom prst="diamond">
            <a:avLst/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 txBox="1"/>
          <p:nvPr/>
        </p:nvSpPr>
        <p:spPr>
          <a:xfrm>
            <a:off x="6400800" y="342900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JSON válido?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132320" y="2286000"/>
            <a:ext cx="0" cy="114300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 txBox="1"/>
          <p:nvPr/>
        </p:nvSpPr>
        <p:spPr>
          <a:xfrm>
            <a:off x="7178040" y="27432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4"/>
                </a:solidFill>
              </a:rPr>
              <a:t>sim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132320" y="4434840"/>
            <a:ext cx="0" cy="54864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 txBox="1"/>
          <p:nvPr/>
        </p:nvSpPr>
        <p:spPr>
          <a:xfrm>
            <a:off x="7178040" y="45720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4"/>
                </a:solidFill>
              </a:rPr>
              <a:t>não</a:t>
            </a:r>
            <a:endParaRPr lang="en-US" sz="1200" dirty="0"/>
          </a:p>
        </p:txBody>
      </p:sp>
      <p:sp>
        <p:nvSpPr>
          <p:cNvPr id="23" name="fb-d3"/>
          <p:cNvSpPr/>
          <p:nvPr/>
        </p:nvSpPr>
        <p:spPr>
          <a:xfrm>
            <a:off x="6217920" y="4983480"/>
            <a:ext cx="1828800" cy="1005840"/>
          </a:xfrm>
          <a:prstGeom prst="diamond">
            <a:avLst/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 txBox="1"/>
          <p:nvPr/>
        </p:nvSpPr>
        <p:spPr>
          <a:xfrm>
            <a:off x="6400800" y="498348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Cota ou sobrecarga?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46720" y="5486400"/>
            <a:ext cx="118872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 txBox="1"/>
          <p:nvPr/>
        </p:nvSpPr>
        <p:spPr>
          <a:xfrm>
            <a:off x="8275320" y="5120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4"/>
                </a:solidFill>
              </a:rPr>
              <a:t>sim</a:t>
            </a:r>
            <a:endParaRPr lang="en-US" sz="1200" dirty="0"/>
          </a:p>
        </p:txBody>
      </p:sp>
      <p:sp>
        <p:nvSpPr>
          <p:cNvPr id="27" name="fb-429"/>
          <p:cNvSpPr/>
          <p:nvPr/>
        </p:nvSpPr>
        <p:spPr>
          <a:xfrm>
            <a:off x="9235440" y="5074920"/>
            <a:ext cx="2377440" cy="82296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 txBox="1"/>
          <p:nvPr/>
        </p:nvSpPr>
        <p:spPr>
          <a:xfrm>
            <a:off x="9326880" y="50749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429 cota · 503 aguarde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 flipH="1">
            <a:off x="5715000" y="5486400"/>
            <a:ext cx="50292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 txBox="1"/>
          <p:nvPr/>
        </p:nvSpPr>
        <p:spPr>
          <a:xfrm>
            <a:off x="5577840" y="5120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4"/>
                </a:solidFill>
              </a:rPr>
              <a:t>não</a:t>
            </a:r>
            <a:endParaRPr lang="en-US" sz="1200" dirty="0"/>
          </a:p>
        </p:txBody>
      </p:sp>
      <p:sp>
        <p:nvSpPr>
          <p:cNvPr id="31" name="fb-500"/>
          <p:cNvSpPr/>
          <p:nvPr/>
        </p:nvSpPr>
        <p:spPr>
          <a:xfrm>
            <a:off x="3246120" y="5074920"/>
            <a:ext cx="2468880" cy="82296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 txBox="1"/>
          <p:nvPr/>
        </p:nvSpPr>
        <p:spPr>
          <a:xfrm>
            <a:off x="3337560" y="5074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500 · tente de novo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356616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Cada falha é registrada no console do servidor: [Aviso], [Fallback], [Erro].</a:t>
            </a:r>
            <a:endParaRPr 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C7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2787987" y="310896"/>
            <a:ext cx="685986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Fluxo de execução, do clique à tela</a:t>
            </a:r>
            <a:endParaRPr lang="en-US" sz="3400" dirty="0"/>
          </a:p>
        </p:txBody>
      </p:sp>
      <p:sp>
        <p:nvSpPr>
          <p:cNvPr id="3" name="fluxo-0"/>
          <p:cNvSpPr/>
          <p:nvPr/>
        </p:nvSpPr>
        <p:spPr>
          <a:xfrm>
            <a:off x="548640" y="1463040"/>
            <a:ext cx="26060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fluxo-num-0"/>
          <p:cNvSpPr/>
          <p:nvPr/>
        </p:nvSpPr>
        <p:spPr>
          <a:xfrm>
            <a:off x="777240" y="169164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777240" y="1691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7373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Inicialização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688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python app.py carrega .env e sobe na porta 3001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154680" y="2578608"/>
            <a:ext cx="22860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9" name="fluxo-1"/>
          <p:cNvSpPr/>
          <p:nvPr/>
        </p:nvSpPr>
        <p:spPr>
          <a:xfrm>
            <a:off x="3383280" y="1463040"/>
            <a:ext cx="26060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fluxo-num-1"/>
          <p:cNvSpPr/>
          <p:nvPr/>
        </p:nvSpPr>
        <p:spPr>
          <a:xfrm>
            <a:off x="3611880" y="169164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3611880" y="1691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17373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Status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24688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app abre e chama GET /api/status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89320" y="2578608"/>
            <a:ext cx="22860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5" name="fluxo-2"/>
          <p:cNvSpPr/>
          <p:nvPr/>
        </p:nvSpPr>
        <p:spPr>
          <a:xfrm>
            <a:off x="6217920" y="1463040"/>
            <a:ext cx="26060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fluxo-num-2"/>
          <p:cNvSpPr/>
          <p:nvPr/>
        </p:nvSpPr>
        <p:spPr>
          <a:xfrm>
            <a:off x="6446520" y="169164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6446520" y="1691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178040" y="17373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Entrada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24688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usuário escolhe </a:t>
            </a:r>
            <a:r>
              <a:rPr lang="en-US" sz="1400" dirty="0" err="1">
                <a:solidFill>
                  <a:schemeClr val="tx1"/>
                </a:solidFill>
              </a:rPr>
              <a:t>ingredientes</a:t>
            </a:r>
            <a:r>
              <a:rPr lang="en-US" sz="1400" dirty="0">
                <a:solidFill>
                  <a:schemeClr val="tx1"/>
                </a:solidFill>
              </a:rPr>
              <a:t> e tipo de refeição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823960" y="2578608"/>
            <a:ext cx="22860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1" name="fluxo-3"/>
          <p:cNvSpPr/>
          <p:nvPr/>
        </p:nvSpPr>
        <p:spPr>
          <a:xfrm>
            <a:off x="9052560" y="1463040"/>
            <a:ext cx="26060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fluxo-num-3"/>
          <p:cNvSpPr/>
          <p:nvPr/>
        </p:nvSpPr>
        <p:spPr>
          <a:xfrm>
            <a:off x="9281160" y="169164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 txBox="1"/>
          <p:nvPr/>
        </p:nvSpPr>
        <p:spPr>
          <a:xfrm>
            <a:off x="9281160" y="1691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0012680" y="17373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Requisição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9281160" y="24688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POST /api/receitas/gerar com o JSON</a:t>
            </a:r>
            <a:endParaRPr lang="en-US" sz="1400" dirty="0"/>
          </a:p>
        </p:txBody>
      </p:sp>
      <p:sp>
        <p:nvSpPr>
          <p:cNvPr id="26" name="fluxo-4"/>
          <p:cNvSpPr/>
          <p:nvPr/>
        </p:nvSpPr>
        <p:spPr>
          <a:xfrm>
            <a:off x="548640" y="3977640"/>
            <a:ext cx="26060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fluxo-num-4"/>
          <p:cNvSpPr/>
          <p:nvPr/>
        </p:nvSpPr>
        <p:spPr>
          <a:xfrm>
            <a:off x="777240" y="42062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 txBox="1"/>
          <p:nvPr/>
        </p:nvSpPr>
        <p:spPr>
          <a:xfrm>
            <a:off x="777240" y="4206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1508760" y="4251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Validação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49834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 err="1">
                <a:solidFill>
                  <a:schemeClr val="tx1"/>
                </a:solidFill>
              </a:rPr>
              <a:t>ingredientes</a:t>
            </a:r>
            <a:r>
              <a:rPr lang="en-US" sz="1400" dirty="0">
                <a:solidFill>
                  <a:schemeClr val="tx1"/>
                </a:solidFill>
              </a:rPr>
              <a:t> ausentes ou com formato inválido → 400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154680" y="5093208"/>
            <a:ext cx="22860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32" name="fluxo-5"/>
          <p:cNvSpPr/>
          <p:nvPr/>
        </p:nvSpPr>
        <p:spPr>
          <a:xfrm>
            <a:off x="3383280" y="3977640"/>
            <a:ext cx="26060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fluxo-num-5"/>
          <p:cNvSpPr/>
          <p:nvPr/>
        </p:nvSpPr>
        <p:spPr>
          <a:xfrm>
            <a:off x="3611880" y="42062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 txBox="1"/>
          <p:nvPr/>
        </p:nvSpPr>
        <p:spPr>
          <a:xfrm>
            <a:off x="3611880" y="4206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4343400" y="4251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Prompt</a:t>
            </a:r>
            <a:endParaRPr lang="en-US" sz="1700" dirty="0"/>
          </a:p>
        </p:txBody>
      </p:sp>
      <p:sp>
        <p:nvSpPr>
          <p:cNvPr id="36" name="Text 34"/>
          <p:cNvSpPr txBox="1"/>
          <p:nvPr/>
        </p:nvSpPr>
        <p:spPr>
          <a:xfrm>
            <a:off x="3611880" y="49834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padrões aplicados e dados inseridos no molde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989320" y="5093208"/>
            <a:ext cx="22860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38" name="fluxo-6"/>
          <p:cNvSpPr/>
          <p:nvPr/>
        </p:nvSpPr>
        <p:spPr>
          <a:xfrm>
            <a:off x="6217920" y="3977640"/>
            <a:ext cx="26060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fluxo-num-6"/>
          <p:cNvSpPr/>
          <p:nvPr/>
        </p:nvSpPr>
        <p:spPr>
          <a:xfrm>
            <a:off x="6446520" y="42062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 txBox="1"/>
          <p:nvPr/>
        </p:nvSpPr>
        <p:spPr>
          <a:xfrm>
            <a:off x="6446520" y="4206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7178040" y="4251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IA</a:t>
            </a:r>
            <a:endParaRPr lang="en-US" sz="1700" dirty="0"/>
          </a:p>
        </p:txBody>
      </p:sp>
      <p:sp>
        <p:nvSpPr>
          <p:cNvPr id="42" name="Text 40"/>
          <p:cNvSpPr txBox="1"/>
          <p:nvPr/>
        </p:nvSpPr>
        <p:spPr>
          <a:xfrm>
            <a:off x="6446520" y="49834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principal ou reserva; item que não é alimento → 422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8823960" y="5093208"/>
            <a:ext cx="22860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44" name="fluxo-7"/>
          <p:cNvSpPr/>
          <p:nvPr/>
        </p:nvSpPr>
        <p:spPr>
          <a:xfrm>
            <a:off x="9052560" y="3977640"/>
            <a:ext cx="26060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fluxo-num-7"/>
          <p:cNvSpPr/>
          <p:nvPr/>
        </p:nvSpPr>
        <p:spPr>
          <a:xfrm>
            <a:off x="9281160" y="42062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 txBox="1"/>
          <p:nvPr/>
        </p:nvSpPr>
        <p:spPr>
          <a:xfrm>
            <a:off x="9281160" y="4206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012680" y="4251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Exibição</a:t>
            </a:r>
            <a:endParaRPr lang="en-US" sz="1700" dirty="0"/>
          </a:p>
        </p:txBody>
      </p:sp>
      <p:sp>
        <p:nvSpPr>
          <p:cNvPr id="48" name="Text 46"/>
          <p:cNvSpPr txBox="1"/>
          <p:nvPr/>
        </p:nvSpPr>
        <p:spPr>
          <a:xfrm>
            <a:off x="9281160" y="49834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JSON vira objeto; o app mostra a receita</a:t>
            </a:r>
            <a:endParaRPr lang="en-US" sz="140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C7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522476" y="342900"/>
            <a:ext cx="9153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Tratamento de erros: seis respostas possíveis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1691640" cy="0"/>
          </a:xfrm>
          <a:prstGeom prst="line">
            <a:avLst/>
          </a:prstGeom>
          <a:noFill/>
          <a:ln w="9525">
            <a:solidFill>
              <a:srgbClr val="DCCBB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889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Sucesso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4612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Receita gerada pelo modelo principal ou pelo reserva.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414016" y="1600200"/>
            <a:ext cx="1691640" cy="0"/>
          </a:xfrm>
          <a:prstGeom prst="line">
            <a:avLst/>
          </a:prstGeom>
          <a:noFill/>
          <a:ln w="9525">
            <a:solidFill>
              <a:srgbClr val="DCCBB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2414016" y="178308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2414016" y="27889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Inválida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2414016" y="324612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Sem </a:t>
            </a:r>
            <a:r>
              <a:rPr lang="en-US" sz="1400" dirty="0" err="1">
                <a:solidFill>
                  <a:schemeClr val="accent4"/>
                </a:solidFill>
              </a:rPr>
              <a:t>ingredientes</a:t>
            </a:r>
            <a:r>
              <a:rPr lang="en-US" sz="1400" dirty="0">
                <a:solidFill>
                  <a:schemeClr val="accent4"/>
                </a:solidFill>
              </a:rPr>
              <a:t> ou com formato inválido (ex.: "123").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79392" y="1600200"/>
            <a:ext cx="1691640" cy="0"/>
          </a:xfrm>
          <a:prstGeom prst="line">
            <a:avLst/>
          </a:prstGeom>
          <a:noFill/>
          <a:ln w="9525">
            <a:solidFill>
              <a:srgbClr val="DCCBB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4279392" y="178308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422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4279392" y="27889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Não é alimento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279392" y="324612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A IA recusou itens como "cadeira" ou "asdfgh".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44768" y="1600200"/>
            <a:ext cx="1691640" cy="0"/>
          </a:xfrm>
          <a:prstGeom prst="line">
            <a:avLst/>
          </a:prstGeom>
          <a:noFill/>
          <a:ln w="9525">
            <a:solidFill>
              <a:srgbClr val="DCCBB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6144768" y="178308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429</a:t>
            </a:r>
            <a:endParaRPr lang="en-US" sz="4800" dirty="0"/>
          </a:p>
        </p:txBody>
      </p:sp>
      <p:sp>
        <p:nvSpPr>
          <p:cNvPr id="17" name="Text 15"/>
          <p:cNvSpPr txBox="1"/>
          <p:nvPr/>
        </p:nvSpPr>
        <p:spPr>
          <a:xfrm>
            <a:off x="6144768" y="27889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Cota esgotada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144768" y="324612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Aguarde minutos ou a renovação diária.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10144" y="1600200"/>
            <a:ext cx="1691640" cy="0"/>
          </a:xfrm>
          <a:prstGeom prst="line">
            <a:avLst/>
          </a:prstGeom>
          <a:noFill/>
          <a:ln w="9525">
            <a:solidFill>
              <a:srgbClr val="DCCBB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 txBox="1"/>
          <p:nvPr/>
        </p:nvSpPr>
        <p:spPr>
          <a:xfrm>
            <a:off x="8010144" y="178308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503</a:t>
            </a:r>
            <a:endParaRPr lang="en-US" sz="4800" dirty="0"/>
          </a:p>
        </p:txBody>
      </p:sp>
      <p:sp>
        <p:nvSpPr>
          <p:cNvPr id="21" name="Text 19"/>
          <p:cNvSpPr txBox="1"/>
          <p:nvPr/>
        </p:nvSpPr>
        <p:spPr>
          <a:xfrm>
            <a:off x="8010144" y="27889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Sobrecarga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010144" y="324612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Gemini congestionado: tente em segundos.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875520" y="1600200"/>
            <a:ext cx="1691640" cy="0"/>
          </a:xfrm>
          <a:prstGeom prst="line">
            <a:avLst/>
          </a:prstGeom>
          <a:noFill/>
          <a:ln w="9525">
            <a:solidFill>
              <a:srgbClr val="DCCBB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 txBox="1"/>
          <p:nvPr/>
        </p:nvSpPr>
        <p:spPr>
          <a:xfrm>
            <a:off x="9875520" y="178308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4800" dirty="0"/>
          </a:p>
        </p:txBody>
      </p:sp>
      <p:sp>
        <p:nvSpPr>
          <p:cNvPr id="25" name="Text 23"/>
          <p:cNvSpPr txBox="1"/>
          <p:nvPr/>
        </p:nvSpPr>
        <p:spPr>
          <a:xfrm>
            <a:off x="9875520" y="27889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Erro interno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9875520" y="324612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Falha que não é de cota, ou exceção inesperada.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5120640"/>
            <a:ext cx="11064240" cy="0"/>
          </a:xfrm>
          <a:prstGeom prst="line">
            <a:avLst/>
          </a:prstGeom>
          <a:noFill/>
          <a:ln w="9525">
            <a:solidFill>
              <a:srgbClr val="DCCBB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 txBox="1"/>
          <p:nvPr/>
        </p:nvSpPr>
        <p:spPr>
          <a:xfrm>
            <a:off x="548640" y="5303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Três níveis de try/except protegem a rota inteira, o modelo principal e o reserva. Detalhes técnicos ficam no console do servidor; o usuário só vê mensagens amigáveis.</a:t>
            </a:r>
            <a:endParaRPr lang="en-US" sz="15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C7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2316169" y="320040"/>
            <a:ext cx="755966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Demonstração: exemplo de requisição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Frontend envia</a:t>
            </a:r>
            <a:endParaRPr lang="en-US" sz="1800" dirty="0"/>
          </a:p>
        </p:txBody>
      </p:sp>
      <p:sp>
        <p:nvSpPr>
          <p:cNvPr id="4" name="demo-req"/>
          <p:cNvSpPr/>
          <p:nvPr/>
        </p:nvSpPr>
        <p:spPr>
          <a:xfrm>
            <a:off x="548640" y="1920240"/>
            <a:ext cx="5394960" cy="4297680"/>
          </a:xfrm>
          <a:prstGeom prst="roundRect">
            <a:avLst>
              <a:gd name="adj" fmla="val 2553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4846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/api/receitas/gerar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</a:t>
            </a:r>
            <a:r>
              <a:rPr lang="en-US" sz="1600" dirty="0" err="1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ingredientes</a:t>
            </a:r>
            <a:r>
              <a:rPr lang="en-US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": [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"frango", "arroz", "tomate"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"tipoRefeicao": "Almoco ou Jantar"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217920" y="141732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Backend devolve </a:t>
            </a:r>
            <a:endParaRPr lang="en-US" sz="1800" dirty="0"/>
          </a:p>
        </p:txBody>
      </p:sp>
      <p:sp>
        <p:nvSpPr>
          <p:cNvPr id="7" name="demo-res"/>
          <p:cNvSpPr/>
          <p:nvPr/>
        </p:nvSpPr>
        <p:spPr>
          <a:xfrm>
            <a:off x="6217920" y="1920240"/>
            <a:ext cx="5394960" cy="4297680"/>
          </a:xfrm>
          <a:prstGeom prst="roundRect">
            <a:avLst>
              <a:gd name="adj" fmla="val 2553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6492240" y="2103120"/>
            <a:ext cx="4846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"sucesso": true,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"dados":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"titulo": "Arroz de Frango",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"tempoPreparo": "25 minutos",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"rendimento": "2 porcoes",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"dificuldade": "Facil",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</a:t>
            </a:r>
            <a:r>
              <a:rPr lang="en-US" sz="1600" dirty="0" err="1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ingredientes</a:t>
            </a:r>
            <a:r>
              <a:rPr lang="en-US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": [...],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"ingredientesOpcionais": [...],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"modoPreparo": [...],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"dica": "..."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C7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73736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Conclusão</a:t>
            </a: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794760"/>
            <a:ext cx="67423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Uma API própria que valida, aplica regras de negócio, protege a chave e torna a integração com o Gemini resiliente com um modelo reserva.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6692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ssistente de Receitas">
  <a:themeElements>
    <a:clrScheme name="Assistente de Receitas">
      <a:dk1>
        <a:srgbClr val="2A1E17"/>
      </a:dk1>
      <a:lt1>
        <a:srgbClr val="FFFFFF"/>
      </a:lt1>
      <a:dk2>
        <a:srgbClr val="3B2416"/>
      </a:dk2>
      <a:lt2>
        <a:srgbClr val="FBEFE7"/>
      </a:lt2>
      <a:accent1>
        <a:srgbClr val="D9502E"/>
      </a:accent1>
      <a:accent2>
        <a:srgbClr val="E9A23B"/>
      </a:accent2>
      <a:accent3>
        <a:srgbClr val="4E8B57"/>
      </a:accent3>
      <a:accent4>
        <a:srgbClr val="7A5C46"/>
      </a:accent4>
      <a:accent5>
        <a:srgbClr val="C0392B"/>
      </a:accent5>
      <a:accent6>
        <a:srgbClr val="8C7B6B"/>
      </a:accent6>
      <a:hlink>
        <a:srgbClr val="D9502E"/>
      </a:hlink>
      <a:folHlink>
        <a:srgbClr val="7A5C46"/>
      </a:folHlink>
    </a:clrScheme>
    <a:fontScheme name="Assistente de Receita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1834</Words>
  <Application>Microsoft Office PowerPoint</Application>
  <PresentationFormat>Widescreen</PresentationFormat>
  <Paragraphs>311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Assistente de Receitas</vt:lpstr>
      <vt:lpstr>Assistente de Receitas com IA</vt:lpstr>
      <vt:lpstr>O conceito: o que cozinhar com o que já tenho?</vt:lpstr>
      <vt:lpstr>Principais funcionalidades</vt:lpstr>
      <vt:lpstr>Tecnologias utilizadas</vt:lpstr>
      <vt:lpstr>Arquitetura: o backend é o único caminho até o Gemini</vt:lpstr>
      <vt:lpstr>O app.py em seis blocos (245 linhas)</vt:lpstr>
      <vt:lpstr>Endpoints da API</vt:lpstr>
      <vt:lpstr>Regras de negócio e validações</vt:lpstr>
      <vt:lpstr>Como funciona a integração com o Gemini</vt:lpstr>
      <vt:lpstr>Fallback: dois modelos tentam antes de qualquer erro</vt:lpstr>
      <vt:lpstr>Fluxo de execução, do clique à tela</vt:lpstr>
      <vt:lpstr>Tratamento de erros: seis respostas possíveis</vt:lpstr>
      <vt:lpstr>Demonstração: exemplo de requisição</vt:lpstr>
      <vt:lpstr>Conclusão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Assistente de Receitas com IA Gemini</dc:title>
  <dc:subject>PptxGenJS Presentation</dc:subject>
  <dc:creator>Matheus Figueira Merlos e João Pedro Marucci Pagluiso</dc:creator>
  <cp:lastModifiedBy>Matheus Merlos</cp:lastModifiedBy>
  <cp:revision>2</cp:revision>
  <dcterms:created xsi:type="dcterms:W3CDTF">2026-10-14T23:10:16Z</dcterms:created>
  <dcterms:modified xsi:type="dcterms:W3CDTF">2026-10-14T23:19:34Z</dcterms:modified>
</cp:coreProperties>
</file>